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B5A3F7-94DC-5AD0-DC4A-7BAB791F3CB7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F5D0D7FD-6462-9AD2-B20E-99F8E994D7DB}">
          <p14:sldIdLst>
            <p14:sldId id="261"/>
            <p14:sldId id="262"/>
            <p14:sldId id="263"/>
          </p14:sldIdLst>
        </p14:section>
        <p14:section name="Implementation" id="{1DE0565C-3EB3-155B-79CA-716D9EC3EF78}">
          <p14:sldIdLst>
            <p14:sldId id="264"/>
            <p14:sldId id="265"/>
            <p14:sldId id="266"/>
          </p14:sldIdLst>
        </p14:section>
        <p14:section name="Wrap-up" id="{A8A04124-AC9C-15C8-49FA-7CA4B02A0D44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44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Smart Disk Scheduler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Smart Disk Scheduler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OPERATING SYSTEMS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Disk Scheduler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err="1">
                <a:solidFill>
                  <a:schemeClr val="bg1"/>
                </a:solidFill>
              </a:rPr>
              <a:t>GUIDE:Raghupathi</a:t>
            </a:r>
            <a:r>
              <a:rPr lang="en-US" dirty="0">
                <a:solidFill>
                  <a:schemeClr val="bg1"/>
                </a:solidFill>
              </a:rPr>
              <a:t> 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BATCH:26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R. Sai Charan Reddi - 2520090184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G. ManiDeep Patel - 2520090100</a:t>
            </a:r>
            <a:endParaRPr lang="en-US" sz="1800" dirty="0"/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P. Akhil Yadav - 2520090155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15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Department: CSIT  </a:t>
            </a:r>
            <a:endParaRPr lang="en-US" dirty="0"/>
          </a:p>
        </p:txBody>
      </p:sp>
      <p:sp>
        <p:nvSpPr>
          <p:cNvPr id="6" name="Terminal card"/>
          <p:cNvSpPr/>
          <p:nvPr/>
        </p:nvSpPr>
        <p:spPr>
          <a:xfrm>
            <a:off x="7315200" y="1463040"/>
            <a:ext cx="438912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7" name="Terminal dot 1"/>
          <p:cNvSpPr/>
          <p:nvPr/>
        </p:nvSpPr>
        <p:spPr>
          <a:xfrm>
            <a:off x="7589520" y="173736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rminal dot 2"/>
          <p:cNvSpPr/>
          <p:nvPr/>
        </p:nvSpPr>
        <p:spPr>
          <a:xfrm>
            <a:off x="7882128" y="17373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rminal dot 3"/>
          <p:cNvSpPr/>
          <p:nvPr/>
        </p:nvSpPr>
        <p:spPr>
          <a:xfrm>
            <a:off x="8174736" y="1737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scheduler.py --smart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[input]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disk requests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[head]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at cylinder 53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[run] 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FCFS = 640, SSTF = 236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[best]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SSTF recommended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[safe]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is best fair (299)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trac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Monitors a proces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isk reques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Accepts disk requests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Takes a queue of cylinder requests and the starting head position.</a:t>
            </a:r>
            <a:endParaRPr lang="en-US" sz="1400" dirty="0"/>
          </a:p>
        </p:txBody>
      </p:sp>
      <p:sp>
        <p:nvSpPr>
          <p:cNvPr id="8" name="Abstrac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Detects failure circle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ix algorith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Runs six algorithms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FCFS, SSTF, SCAN, C-SCAN, LOOK and C-LOOK.</a:t>
            </a:r>
            <a:endParaRPr lang="en-US" sz="1400" dirty="0"/>
          </a:p>
        </p:txBody>
      </p:sp>
      <p:sp>
        <p:nvSpPr>
          <p:cNvPr id="13" name="Abstrac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Restarts automatically circle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mart sele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Selects the best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Smart mode recommends the algorithm with the least head movement.</a:t>
            </a:r>
            <a:endParaRPr lang="en-US" sz="1400" dirty="0"/>
          </a:p>
        </p:txBody>
      </p:sp>
      <p:sp>
        <p:nvSpPr>
          <p:cNvPr id="18" name="Abstrac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Graphical dashboard circle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Graphical 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Graphical dashboard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Shows the service order, total movement and a head-movement graph.</a:t>
            </a:r>
            <a:endParaRPr lang="en-US" sz="1400" dirty="0"/>
          </a:p>
        </p:txBody>
      </p:sp>
      <p:sp>
        <p:nvSpPr>
          <p:cNvPr id="23" name="Abstract card 5"/>
          <p:cNvSpPr/>
          <p:nvPr/>
        </p:nvSpPr>
        <p:spPr>
          <a:xfrm>
            <a:off x="438912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Event logs circle"/>
          <p:cNvSpPr/>
          <p:nvPr/>
        </p:nvSpPr>
        <p:spPr>
          <a:xfrm>
            <a:off x="466344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Comparison vi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44119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6344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Comparison view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Helps users compare all algorithms for the same request queue.</a:t>
            </a:r>
            <a:endParaRPr lang="en-US" sz="1400" dirty="0"/>
          </a:p>
        </p:txBody>
      </p:sp>
      <p:sp>
        <p:nvSpPr>
          <p:cNvPr id="28" name="Abstrac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OS concepts circle"/>
          <p:cNvSpPr/>
          <p:nvPr/>
        </p:nvSpPr>
        <p:spPr>
          <a:xfrm>
            <a:off x="850392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OS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40" y="44119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039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concepts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Demonstrates disk management and scheduling in Operating Systems.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089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mage 0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Many processes send disk requests at the same time.</a:t>
            </a:r>
            <a:endParaRPr lang="en-US" sz="1800" dirty="0"/>
          </a:p>
        </p:txBody>
      </p:sp>
      <p:sp>
        <p:nvSpPr>
          <p:cNvPr id="6" name="Problem 2 circle"/>
          <p:cNvSpPr/>
          <p:nvPr/>
        </p:nvSpPr>
        <p:spPr>
          <a:xfrm>
            <a:off x="548640" y="27249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1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077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7249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Serving requests in arrival order makes the head travel long distances.</a:t>
            </a:r>
            <a:endParaRPr lang="en-US" sz="1800" dirty="0"/>
          </a:p>
        </p:txBody>
      </p:sp>
      <p:sp>
        <p:nvSpPr>
          <p:cNvPr id="9" name="Problem 3 circle"/>
          <p:cNvSpPr/>
          <p:nvPr/>
        </p:nvSpPr>
        <p:spPr>
          <a:xfrm>
            <a:off x="548640" y="3895344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2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8953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Long seek time slows every process that waits for the disk.</a:t>
            </a:r>
            <a:endParaRPr lang="en-US" sz="1800" dirty="0"/>
          </a:p>
        </p:txBody>
      </p:sp>
      <p:sp>
        <p:nvSpPr>
          <p:cNvPr id="12" name="Problem 4 circle"/>
          <p:cNvSpPr/>
          <p:nvPr/>
        </p:nvSpPr>
        <p:spPr>
          <a:xfrm>
            <a:off x="548640" y="5065776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3" descr="Probl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4865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54480" y="50657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No single algorithm is best for every request pattern.</a:t>
            </a:r>
            <a:endParaRPr lang="en-US" sz="1800" dirty="0"/>
          </a:p>
        </p:txBody>
      </p:sp>
      <p:sp>
        <p:nvSpPr>
          <p:cNvPr id="15" name="Solution card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6" name="Solution circle"/>
          <p:cNvSpPr/>
          <p:nvPr/>
        </p:nvSpPr>
        <p:spPr>
          <a:xfrm>
            <a:off x="704088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Sol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21031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4088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040880" y="3429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Develop a smart disk scheduler that runs the classical algorithms, compares head movement, and selects the best one, with a GUI to view the results.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2733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Objectives panel"/>
          <p:cNvSpPr/>
          <p:nvPr/>
        </p:nvSpPr>
        <p:spPr>
          <a:xfrm>
            <a:off x="548640" y="155448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What the scheduler sets out to do, and how it is evaluated.</a:t>
            </a:r>
            <a:endParaRPr lang="en-US" sz="1400" dirty="0"/>
          </a:p>
        </p:txBody>
      </p:sp>
      <p:sp>
        <p:nvSpPr>
          <p:cNvPr id="7" name="Objective number 1"/>
          <p:cNvSpPr/>
          <p:nvPr/>
        </p:nvSpPr>
        <p:spPr>
          <a:xfrm>
            <a:off x="42976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Accept disk requests and the initial head position</a:t>
            </a:r>
            <a:endParaRPr lang="en-US" sz="1800" dirty="0"/>
          </a:p>
        </p:txBody>
      </p:sp>
      <p:sp>
        <p:nvSpPr>
          <p:cNvPr id="10" name="Objective number 2"/>
          <p:cNvSpPr/>
          <p:nvPr/>
        </p:nvSpPr>
        <p:spPr>
          <a:xfrm>
            <a:off x="4297680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331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Implement FCFS, SSTF, SCAN, C-SCAN, LOOK, C-LOOK</a:t>
            </a:r>
            <a:endParaRPr lang="en-US" sz="1800" dirty="0"/>
          </a:p>
        </p:txBody>
      </p:sp>
      <p:sp>
        <p:nvSpPr>
          <p:cNvPr id="13" name="Objective number 3"/>
          <p:cNvSpPr/>
          <p:nvPr/>
        </p:nvSpPr>
        <p:spPr>
          <a:xfrm>
            <a:off x="429768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108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Calculate total head movement of each algorithm</a:t>
            </a:r>
            <a:endParaRPr lang="en-US" sz="1800" dirty="0"/>
          </a:p>
        </p:txBody>
      </p:sp>
      <p:sp>
        <p:nvSpPr>
          <p:cNvPr id="16" name="Objective number 4"/>
          <p:cNvSpPr/>
          <p:nvPr/>
        </p:nvSpPr>
        <p:spPr>
          <a:xfrm>
            <a:off x="429768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862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Select the best algorithm automatically</a:t>
            </a:r>
            <a:endParaRPr lang="en-US" sz="1800" dirty="0"/>
          </a:p>
        </p:txBody>
      </p:sp>
      <p:sp>
        <p:nvSpPr>
          <p:cNvPr id="19" name="Objective number 5"/>
          <p:cNvSpPr/>
          <p:nvPr/>
        </p:nvSpPr>
        <p:spPr>
          <a:xfrm>
            <a:off x="429768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6634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Show results and graphs in a graphical interface</a:t>
            </a:r>
            <a:endParaRPr lang="en-US" sz="1800" dirty="0"/>
          </a:p>
        </p:txBody>
      </p:sp>
      <p:sp>
        <p:nvSpPr>
          <p:cNvPr id="22" name="Objective number 6"/>
          <p:cNvSpPr/>
          <p:nvPr/>
        </p:nvSpPr>
        <p:spPr>
          <a:xfrm>
            <a:off x="4297680" y="5532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440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Check inputs and report invalid requests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Existing System vs Proposed System</a:t>
            </a:r>
            <a:endParaRPr lang="en-US" sz="3600" dirty="0"/>
          </a:p>
        </p:txBody>
      </p:sp>
      <p:sp>
        <p:nvSpPr>
          <p:cNvPr id="3" name="Existing header"/>
          <p:cNvSpPr/>
          <p:nvPr/>
        </p:nvSpPr>
        <p:spPr>
          <a:xfrm>
            <a:off x="548640" y="1463040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Existing approach</a:t>
            </a:r>
            <a:endParaRPr lang="en-US" sz="1600" dirty="0"/>
          </a:p>
        </p:txBody>
      </p:sp>
      <p:sp>
        <p:nvSpPr>
          <p:cNvPr id="5" name="Proposed header"/>
          <p:cNvSpPr/>
          <p:nvPr/>
        </p:nvSpPr>
        <p:spPr>
          <a:xfrm>
            <a:off x="6400800" y="1463040"/>
            <a:ext cx="521208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7" name="Existing row 1"/>
          <p:cNvSpPr/>
          <p:nvPr/>
        </p:nvSpPr>
        <p:spPr>
          <a:xfrm>
            <a:off x="548640" y="219456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Single fixed scheduling algorithm</a:t>
            </a:r>
            <a:endParaRPr lang="en-US" sz="1400" dirty="0"/>
          </a:p>
        </p:txBody>
      </p:sp>
      <p:pic>
        <p:nvPicPr>
          <p:cNvPr id="9" name="Image 0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340864"/>
            <a:ext cx="365760" cy="365760"/>
          </a:xfrm>
          <a:prstGeom prst="rect">
            <a:avLst/>
          </a:prstGeom>
        </p:spPr>
      </p:pic>
      <p:sp>
        <p:nvSpPr>
          <p:cNvPr id="10" name="Proposed row 1"/>
          <p:cNvSpPr/>
          <p:nvPr/>
        </p:nvSpPr>
        <p:spPr>
          <a:xfrm>
            <a:off x="6400800" y="219456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194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Six algorithms compared together</a:t>
            </a:r>
            <a:endParaRPr lang="en-US" sz="1600" dirty="0"/>
          </a:p>
        </p:txBody>
      </p:sp>
      <p:sp>
        <p:nvSpPr>
          <p:cNvPr id="12" name="Existing row 2"/>
          <p:cNvSpPr/>
          <p:nvPr/>
        </p:nvSpPr>
        <p:spPr>
          <a:xfrm>
            <a:off x="548640" y="297180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971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FCFS causes long head movement</a:t>
            </a:r>
            <a:endParaRPr lang="en-US" sz="1400" dirty="0"/>
          </a:p>
        </p:txBody>
      </p:sp>
      <p:pic>
        <p:nvPicPr>
          <p:cNvPr id="14" name="Image 1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18104"/>
            <a:ext cx="365760" cy="365760"/>
          </a:xfrm>
          <a:prstGeom prst="rect">
            <a:avLst/>
          </a:prstGeom>
        </p:spPr>
      </p:pic>
      <p:sp>
        <p:nvSpPr>
          <p:cNvPr id="15" name="Proposed row 2"/>
          <p:cNvSpPr/>
          <p:nvPr/>
        </p:nvSpPr>
        <p:spPr>
          <a:xfrm>
            <a:off x="6400800" y="297180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29400" y="2971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best-algorithm selection</a:t>
            </a:r>
            <a:endParaRPr lang="en-US" sz="1600" dirty="0"/>
          </a:p>
        </p:txBody>
      </p:sp>
      <p:sp>
        <p:nvSpPr>
          <p:cNvPr id="17" name="Existing row 3"/>
          <p:cNvSpPr/>
          <p:nvPr/>
        </p:nvSpPr>
        <p:spPr>
          <a:xfrm>
            <a:off x="548640" y="374904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3749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view of head movement</a:t>
            </a:r>
            <a:endParaRPr lang="en-US" sz="1400" dirty="0"/>
          </a:p>
        </p:txBody>
      </p:sp>
      <p:pic>
        <p:nvPicPr>
          <p:cNvPr id="19" name="Image 2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95344"/>
            <a:ext cx="365760" cy="365760"/>
          </a:xfrm>
          <a:prstGeom prst="rect">
            <a:avLst/>
          </a:prstGeom>
        </p:spPr>
      </p:pic>
      <p:sp>
        <p:nvSpPr>
          <p:cNvPr id="20" name="Proposed row 3"/>
          <p:cNvSpPr/>
          <p:nvPr/>
        </p:nvSpPr>
        <p:spPr>
          <a:xfrm>
            <a:off x="6400800" y="374904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29400" y="3749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Head-movement graph display</a:t>
            </a:r>
            <a:endParaRPr lang="en-US" sz="1600" dirty="0"/>
          </a:p>
        </p:txBody>
      </p:sp>
      <p:sp>
        <p:nvSpPr>
          <p:cNvPr id="22" name="Existing row 4"/>
          <p:cNvSpPr/>
          <p:nvPr/>
        </p:nvSpPr>
        <p:spPr>
          <a:xfrm>
            <a:off x="548640" y="452628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4526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Manual calculation of seek distance</a:t>
            </a:r>
            <a:endParaRPr lang="en-US" sz="1400" dirty="0"/>
          </a:p>
        </p:txBody>
      </p:sp>
      <p:pic>
        <p:nvPicPr>
          <p:cNvPr id="24" name="Image 3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672584"/>
            <a:ext cx="365760" cy="365760"/>
          </a:xfrm>
          <a:prstGeom prst="rect">
            <a:avLst/>
          </a:prstGeom>
        </p:spPr>
      </p:pic>
      <p:sp>
        <p:nvSpPr>
          <p:cNvPr id="25" name="Proposed row 4"/>
          <p:cNvSpPr/>
          <p:nvPr/>
        </p:nvSpPr>
        <p:spPr>
          <a:xfrm>
            <a:off x="6400800" y="452628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629400" y="4526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total seek calculation</a:t>
            </a:r>
            <a:endParaRPr lang="en-US" sz="1600" dirty="0"/>
          </a:p>
        </p:txBody>
      </p:sp>
      <p:sp>
        <p:nvSpPr>
          <p:cNvPr id="27" name="Existing row 5"/>
          <p:cNvSpPr/>
          <p:nvPr/>
        </p:nvSpPr>
        <p:spPr>
          <a:xfrm>
            <a:off x="548640" y="530352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53035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fairness check when choosing an algorithm</a:t>
            </a:r>
            <a:endParaRPr lang="en-US" sz="1400" dirty="0"/>
          </a:p>
        </p:txBody>
      </p:sp>
      <p:pic>
        <p:nvPicPr>
          <p:cNvPr id="29" name="Image 4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449824"/>
            <a:ext cx="365760" cy="365760"/>
          </a:xfrm>
          <a:prstGeom prst="rect">
            <a:avLst/>
          </a:prstGeom>
        </p:spPr>
      </p:pic>
      <p:sp>
        <p:nvSpPr>
          <p:cNvPr id="30" name="Proposed row 5"/>
          <p:cNvSpPr/>
          <p:nvPr/>
        </p:nvSpPr>
        <p:spPr>
          <a:xfrm>
            <a:off x="6400800" y="530352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629400" y="5303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Fairness-aware recommendation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Technologies Used</a:t>
            </a:r>
            <a:endParaRPr lang="en-US" sz="3600" dirty="0"/>
          </a:p>
        </p:txBody>
      </p:sp>
      <p:sp>
        <p:nvSpPr>
          <p:cNvPr id="3" name="Tech card 1"/>
          <p:cNvSpPr/>
          <p:nvPr/>
        </p:nvSpPr>
        <p:spPr>
          <a:xfrm>
            <a:off x="548640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C Programming Language 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Python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the scheduling algorithms and the smart selection logic.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401568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9" name="Ubuntu Linux / WSL circle"/>
          <p:cNvSpPr/>
          <p:nvPr/>
        </p:nvSpPr>
        <p:spPr>
          <a:xfrm>
            <a:off x="3675888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kin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20345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5888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Tkinter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75888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Builds the graphical dashboard for input and results.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254496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4" name="Python Tkinter circle"/>
          <p:cNvSpPr/>
          <p:nvPr/>
        </p:nvSpPr>
        <p:spPr>
          <a:xfrm>
            <a:off x="6528816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Matplotli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20345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28816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Matplotlib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28816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Draws head-movement graphs and comparison charts.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9107424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9" name="Visual Studio Code circle"/>
          <p:cNvSpPr/>
          <p:nvPr/>
        </p:nvSpPr>
        <p:spPr>
          <a:xfrm>
            <a:off x="9381744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Visual Studio 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20345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81744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Visual Studio Code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81744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Used to write, organize, and run the project files.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Also used: Windows / Ubuntu Linux  |  Git and GitHub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515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Architecture box 1"/>
          <p:cNvSpPr/>
          <p:nvPr/>
        </p:nvSpPr>
        <p:spPr>
          <a:xfrm>
            <a:off x="5486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User circle"/>
          <p:cNvSpPr/>
          <p:nvPr/>
        </p:nvSpPr>
        <p:spPr>
          <a:xfrm>
            <a:off x="13716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Enters requests and selects the mode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9260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Architecture box 2"/>
          <p:cNvSpPr/>
          <p:nvPr/>
        </p:nvSpPr>
        <p:spPr>
          <a:xfrm>
            <a:off x="35204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Python Tkinter GUI circle"/>
          <p:cNvSpPr/>
          <p:nvPr/>
        </p:nvSpPr>
        <p:spPr>
          <a:xfrm>
            <a:off x="43434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ython Tkinter G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Tkinter GUI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Takes input, shows results and graphs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58978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Architecture box 3"/>
          <p:cNvSpPr/>
          <p:nvPr/>
        </p:nvSpPr>
        <p:spPr>
          <a:xfrm>
            <a:off x="64922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6" name="Scheduling Engine circle"/>
          <p:cNvSpPr/>
          <p:nvPr/>
        </p:nvSpPr>
        <p:spPr>
          <a:xfrm>
            <a:off x="73152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Scheduling Eng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0" y="19088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Scheduling Engine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Runs FCFS, SSTF, SCAN, C-SCAN, LOOK, C-LOOK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88696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chitecture box 4"/>
          <p:cNvSpPr/>
          <p:nvPr/>
        </p:nvSpPr>
        <p:spPr>
          <a:xfrm>
            <a:off x="94640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Test Service circle"/>
          <p:cNvSpPr/>
          <p:nvPr/>
        </p:nvSpPr>
        <p:spPr>
          <a:xfrm>
            <a:off x="10287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Smart Sel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450" y="190881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Selector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Compares head movement and picks the best</a:t>
            </a:r>
            <a:endParaRPr lang="en-US" sz="1400" dirty="0"/>
          </a:p>
        </p:txBody>
      </p:sp>
      <p:sp>
        <p:nvSpPr>
          <p:cNvPr id="26" name="Log arrow 1"/>
          <p:cNvSpPr/>
          <p:nvPr/>
        </p:nvSpPr>
        <p:spPr>
          <a:xfrm>
            <a:off x="46863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Log arrow 2"/>
          <p:cNvSpPr/>
          <p:nvPr/>
        </p:nvSpPr>
        <p:spPr>
          <a:xfrm>
            <a:off x="76581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Event log box"/>
          <p:cNvSpPr/>
          <p:nvPr/>
        </p:nvSpPr>
        <p:spPr>
          <a:xfrm>
            <a:off x="3520440" y="45262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9" name="Event Log circle"/>
          <p:cNvSpPr/>
          <p:nvPr/>
        </p:nvSpPr>
        <p:spPr>
          <a:xfrm>
            <a:off x="3794760" y="4800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Result Displa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6210" y="4972050"/>
            <a:ext cx="342900" cy="342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0916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 Display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709160" y="5166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Shows order, total movement and comparison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The GUI sends requests to the engine; the selector recommends the best algorithm.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Working Methodology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Enter requests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enters the queue and head position.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419856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3648456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 input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checks that all cylinders are valid.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91072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6519672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967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algorithms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FCFS, SSTF, SCAN, C-SCAN, LOOK, C-LOOK run.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162288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939088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08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Calculate movement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Total head movement is found for each.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Step number 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 results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selector finds the least movement.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3419856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9" name="Step number 6"/>
          <p:cNvSpPr/>
          <p:nvPr/>
        </p:nvSpPr>
        <p:spPr>
          <a:xfrm>
            <a:off x="3648456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4845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48456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Show output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648456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shows the order, table and graph.</a:t>
            </a:r>
            <a:endParaRPr lang="en-US" sz="1400" dirty="0"/>
          </a:p>
        </p:txBody>
      </p:sp>
      <p:sp>
        <p:nvSpPr>
          <p:cNvPr id="33" name="Step card 7"/>
          <p:cNvSpPr/>
          <p:nvPr/>
        </p:nvSpPr>
        <p:spPr>
          <a:xfrm>
            <a:off x="6291072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34" name="Step number 7"/>
          <p:cNvSpPr/>
          <p:nvPr/>
        </p:nvSpPr>
        <p:spPr>
          <a:xfrm>
            <a:off x="6519672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19672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again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changes the input and repeats.</a:t>
            </a:r>
            <a:endParaRPr lang="en-US" sz="1400" dirty="0"/>
          </a:p>
        </p:txBody>
      </p:sp>
      <p:sp>
        <p:nvSpPr>
          <p:cNvPr id="38" name="Loop card"/>
          <p:cNvSpPr/>
          <p:nvPr/>
        </p:nvSpPr>
        <p:spPr>
          <a:xfrm>
            <a:off x="9162288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39" name="Loop circle"/>
          <p:cNvSpPr/>
          <p:nvPr/>
        </p:nvSpPr>
        <p:spPr>
          <a:xfrm>
            <a:off x="9390888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0" descr="L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4297680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390888" y="4892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Steps 2 to 6 repeat whenever the user changes the input.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Operating System Concepts Used</a:t>
            </a:r>
            <a:endParaRPr lang="en-US" sz="3600" dirty="0"/>
          </a:p>
        </p:txBody>
      </p:sp>
      <p:sp>
        <p:nvSpPr>
          <p:cNvPr id="3" name="Concep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ode chip 1"/>
          <p:cNvSpPr/>
          <p:nvPr/>
        </p:nvSpPr>
        <p:spPr>
          <a:xfrm>
            <a:off x="82296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 time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Head movement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Time to move the head to a cylinder.</a:t>
            </a:r>
            <a:endParaRPr lang="en-US" sz="1400" dirty="0"/>
          </a:p>
        </p:txBody>
      </p:sp>
      <p:sp>
        <p:nvSpPr>
          <p:cNvPr id="8" name="Concep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ode chip 2"/>
          <p:cNvSpPr/>
          <p:nvPr/>
        </p:nvSpPr>
        <p:spPr>
          <a:xfrm>
            <a:off x="466344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First come, first served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Serves requests in arrival order.</a:t>
            </a:r>
            <a:endParaRPr lang="en-US" sz="1400" dirty="0"/>
          </a:p>
        </p:txBody>
      </p:sp>
      <p:sp>
        <p:nvSpPr>
          <p:cNvPr id="13" name="Concep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Code chip 3"/>
          <p:cNvSpPr/>
          <p:nvPr/>
        </p:nvSpPr>
        <p:spPr>
          <a:xfrm>
            <a:off x="850392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SSTF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Shortest seek time first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Serves the nearest request next.</a:t>
            </a:r>
            <a:endParaRPr lang="en-US" sz="1400" dirty="0"/>
          </a:p>
        </p:txBody>
      </p:sp>
      <p:sp>
        <p:nvSpPr>
          <p:cNvPr id="18" name="Concep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Code chip 4"/>
          <p:cNvSpPr/>
          <p:nvPr/>
        </p:nvSpPr>
        <p:spPr>
          <a:xfrm>
            <a:off x="82296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/ C-SCAN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Elevator algorithms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head sweeps across the disk.</a:t>
            </a:r>
            <a:endParaRPr lang="en-US" sz="1400" dirty="0"/>
          </a:p>
        </p:txBody>
      </p:sp>
      <p:sp>
        <p:nvSpPr>
          <p:cNvPr id="23" name="Concept card 5"/>
          <p:cNvSpPr/>
          <p:nvPr/>
        </p:nvSpPr>
        <p:spPr>
          <a:xfrm>
            <a:off x="438912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Code chip 5"/>
          <p:cNvSpPr/>
          <p:nvPr/>
        </p:nvSpPr>
        <p:spPr>
          <a:xfrm>
            <a:off x="466344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/ C-LOOK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Sweep to last request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Reverses at the last request, not the edge.</a:t>
            </a:r>
            <a:endParaRPr lang="en-US" sz="1400" dirty="0"/>
          </a:p>
        </p:txBody>
      </p:sp>
      <p:sp>
        <p:nvSpPr>
          <p:cNvPr id="28" name="Concep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Code chip 6"/>
          <p:cNvSpPr/>
          <p:nvPr/>
        </p:nvSpPr>
        <p:spPr>
          <a:xfrm>
            <a:off x="850392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starvation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Fairness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Far requests may wait too long in SSTF.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57112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Implementation and Modules</a:t>
            </a:r>
            <a:endParaRPr lang="en-US" sz="36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Scheduling Engine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cheduling 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Scheduling Engine</a:t>
            </a:r>
            <a:endParaRPr lang="en-US" sz="2000" dirty="0"/>
          </a:p>
        </p:txBody>
      </p:sp>
      <p:sp>
        <p:nvSpPr>
          <p:cNvPr id="8" name="File chip 1"/>
          <p:cNvSpPr/>
          <p:nvPr/>
        </p:nvSpPr>
        <p:spPr>
          <a:xfrm>
            <a:off x="82296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scheduler.py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Implements the six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Calculates the service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Computes total head movement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Handles disk size and head start</a:t>
            </a:r>
            <a:endParaRPr lang="en-US" sz="1400" dirty="0"/>
          </a:p>
        </p:txBody>
      </p:sp>
      <p:sp>
        <p:nvSpPr>
          <p:cNvPr id="11" name="Module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2" name="Test Service circle"/>
          <p:cNvSpPr/>
          <p:nvPr/>
        </p:nvSpPr>
        <p:spPr>
          <a:xfrm>
            <a:off x="46405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Smart Sel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0002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092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092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Selector</a:t>
            </a:r>
            <a:endParaRPr lang="en-US" sz="2000" dirty="0"/>
          </a:p>
        </p:txBody>
      </p:sp>
      <p:sp>
        <p:nvSpPr>
          <p:cNvPr id="16" name="File chip 2"/>
          <p:cNvSpPr/>
          <p:nvPr/>
        </p:nvSpPr>
        <p:spPr>
          <a:xfrm>
            <a:off x="464058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405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selector.py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4058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Compares results of all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Recommends the least-movement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Suggests a starvation-free alternative</a:t>
            </a:r>
            <a:endParaRPr lang="en-US" sz="1400" dirty="0"/>
          </a:p>
        </p:txBody>
      </p:sp>
      <p:sp>
        <p:nvSpPr>
          <p:cNvPr id="19" name="Module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20" name="GUI Dashboard circle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GUI 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200025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3268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 Dashboard</a:t>
            </a:r>
            <a:endParaRPr lang="en-US" sz="2000" dirty="0"/>
          </a:p>
        </p:txBody>
      </p:sp>
      <p:sp>
        <p:nvSpPr>
          <p:cNvPr id="24" name="File chip 3"/>
          <p:cNvSpPr/>
          <p:nvPr/>
        </p:nvSpPr>
        <p:spPr>
          <a:xfrm>
            <a:off x="845820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58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45820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Takes input and validates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Shows the comparison table and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Draws the head-movement graph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4572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 and Results</a:t>
            </a:r>
            <a:endParaRPr lang="en-US" sz="3600" dirty="0"/>
          </a:p>
        </p:txBody>
      </p:sp>
      <p:graphicFrame>
        <p:nvGraphicFramePr>
          <p:cNvPr id="12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1868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Enter valid requests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Requests and head position are accepted.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Run all algorithms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Each gives its order and total movement.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FCFS on standard example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Total head movement is 640.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SSTF on standard example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Total head movement is 236.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smart selection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SSTF is recommended with 236.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Enter invalid input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An error message is displayed.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View head-movement graph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The graph follows the service order.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served result card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5" name="Observed circle"/>
          <p:cNvSpPr/>
          <p:nvPr/>
        </p:nvSpPr>
        <p:spPr>
          <a:xfrm>
            <a:off x="82296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Obser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45211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50749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Calculated result: </a:t>
            </a:r>
            <a:r>
              <a:rPr lang="en-US" sz="1600" dirty="0">
                <a:solidFill>
                  <a:schemeClr val="bg1"/>
                </a:solidFill>
              </a:rPr>
              <a:t>Head at 53 gives FCFS 640, SSTF 236, SCAN 331, C-SCAN 382, LOOK 299, C-LOOK 322. Smart mode picks SSTF.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Advantages, Limitations and Future Scope</a:t>
            </a:r>
            <a:endParaRPr lang="en-US" sz="36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Advantage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Advant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Reduces disk head movement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Chooses the best algorithm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Simple graphical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Clear comparison of all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Teaches disk scheduling concepts</a:t>
            </a:r>
            <a:endParaRPr lang="en-US" sz="1400" dirty="0"/>
          </a:p>
        </p:txBody>
      </p:sp>
      <p:sp>
        <p:nvSpPr>
          <p:cNvPr id="8" name="Column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Current limitations circle"/>
          <p:cNvSpPr/>
          <p:nvPr/>
        </p:nvSpPr>
        <p:spPr>
          <a:xfrm>
            <a:off x="4640580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Current limita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058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058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Works on a static request 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Simulates the disk, no real hardware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Ignores rotational latency and transfer time</a:t>
            </a:r>
            <a:endParaRPr lang="en-US" sz="1400" dirty="0"/>
          </a:p>
        </p:txBody>
      </p:sp>
      <p:sp>
        <p:nvSpPr>
          <p:cNvPr id="13" name="Column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4" name="Future enhancements circle"/>
          <p:cNvSpPr/>
          <p:nvPr/>
        </p:nvSpPr>
        <p:spPr>
          <a:xfrm>
            <a:off x="8458200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Future enhanceme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Accept requests while running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Add rotational latency to the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Add N-Step SCAN and FSCAN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Predict the best algorithm from workload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Export graphs and results to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1861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pic>
        <p:nvPicPr>
          <p:cNvPr id="3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508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Shows how disk scheduling reduces head movement.</a:t>
            </a:r>
            <a:endParaRPr lang="en-US" sz="2000" dirty="0"/>
          </a:p>
        </p:txBody>
      </p:sp>
      <p:pic>
        <p:nvPicPr>
          <p:cNvPr id="5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Implements six classical algorithms with total seek calculation.</a:t>
            </a:r>
            <a:endParaRPr lang="en-US" sz="2000" dirty="0"/>
          </a:p>
        </p:txBody>
      </p:sp>
      <p:pic>
        <p:nvPicPr>
          <p:cNvPr id="7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3063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smart selector recommends the best algorithm for each request queue.</a:t>
            </a:r>
            <a:endParaRPr lang="en-US" sz="2000" dirty="0"/>
          </a:p>
        </p:txBody>
      </p:sp>
      <p:pic>
        <p:nvPicPr>
          <p:cNvPr id="9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8016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Python Tkinter dashboard makes comparison easy to view.</a:t>
            </a:r>
            <a:endParaRPr lang="en-US" sz="2000" dirty="0"/>
          </a:p>
        </p:txBody>
      </p:sp>
      <p:pic>
        <p:nvPicPr>
          <p:cNvPr id="11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8016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Applies key Operating Systems concepts to a practical problem.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4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igo Amber">
  <a:themeElements>
    <a:clrScheme name="Indigo Amber">
      <a:dk1>
        <a:srgbClr val="14103A"/>
      </a:dk1>
      <a:lt1>
        <a:srgbClr val="FFFFFF"/>
      </a:lt1>
      <a:dk2>
        <a:srgbClr val="2B2766"/>
      </a:dk2>
      <a:lt2>
        <a:srgbClr val="EFEDFC"/>
      </a:lt2>
      <a:accent1>
        <a:srgbClr val="F5A524"/>
      </a:accent1>
      <a:accent2>
        <a:srgbClr val="8B5CF6"/>
      </a:accent2>
      <a:accent3>
        <a:srgbClr val="38BDF8"/>
      </a:accent3>
      <a:accent4>
        <a:srgbClr val="F43F5E"/>
      </a:accent4>
      <a:accent5>
        <a:srgbClr val="6B6A8F"/>
      </a:accent5>
      <a:accent6>
        <a:srgbClr val="10B981"/>
      </a:accent6>
      <a:hlink>
        <a:srgbClr val="F5A524"/>
      </a:hlink>
      <a:folHlink>
        <a:srgbClr val="6B6A8F"/>
      </a:folHlink>
    </a:clrScheme>
    <a:fontScheme name="Indigo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996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Indigo Amber</vt:lpstr>
      <vt:lpstr>Smart Disk Scheduler</vt:lpstr>
      <vt:lpstr>Abstract</vt:lpstr>
      <vt:lpstr>Problem Statement</vt:lpstr>
      <vt:lpstr>Objectives</vt:lpstr>
      <vt:lpstr>Existing System vs Proposed System</vt:lpstr>
      <vt:lpstr>Technologies Used</vt:lpstr>
      <vt:lpstr>System Architecture</vt:lpstr>
      <vt:lpstr>Working Methodology</vt:lpstr>
      <vt:lpstr>Operating System Concepts Used</vt:lpstr>
      <vt:lpstr>Implementation and Modules</vt:lpstr>
      <vt:lpstr>Testing and Results</vt:lpstr>
      <vt:lpstr>Advantages, Limitations and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Disk Scheduler</dc:title>
  <dc:subject>PptxGenJS Presentation</dc:subject>
  <dc:creator>PptxGenJS</dc:creator>
  <cp:lastModifiedBy>Sai Charan Reddy</cp:lastModifiedBy>
  <cp:revision>5</cp:revision>
  <dcterms:created xsi:type="dcterms:W3CDTF">2026-10-16T15:38:06Z</dcterms:created>
  <dcterms:modified xsi:type="dcterms:W3CDTF">2026-10-17T05:44:57Z</dcterms:modified>
</cp:coreProperties>
</file>